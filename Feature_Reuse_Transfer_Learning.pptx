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60" kern="0" dirty="0">
                <a:solidFill>
                  <a:srgbClr val="2E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·  TRANSFER LEARNING  ·  A TECHNICAL NOTE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5087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Role of Feature Reuse in Transfer Learning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3C3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 what is already known; learn only what is new.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74520" y="4160520"/>
            <a:ext cx="91440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CFC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74520" y="4160520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47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 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3849624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E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feature extractor  fθ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81528" y="4160520"/>
            <a:ext cx="960120" cy="676656"/>
          </a:xfrm>
          <a:prstGeom prst="roundRect">
            <a:avLst>
              <a:gd name="adj" fmla="val 9459"/>
            </a:avLst>
          </a:prstGeom>
          <a:solidFill>
            <a:srgbClr val="B9863B"/>
          </a:solidFill>
          <a:ln/>
        </p:spPr>
      </p:sp>
      <p:sp>
        <p:nvSpPr>
          <p:cNvPr id="9" name="Shape 7"/>
          <p:cNvSpPr/>
          <p:nvPr/>
        </p:nvSpPr>
        <p:spPr>
          <a:xfrm>
            <a:off x="4187952" y="4160520"/>
            <a:ext cx="960120" cy="676656"/>
          </a:xfrm>
          <a:prstGeom prst="roundRect">
            <a:avLst>
              <a:gd name="adj" fmla="val 9459"/>
            </a:avLst>
          </a:prstGeom>
          <a:solidFill>
            <a:srgbClr val="A6804A"/>
          </a:solidFill>
          <a:ln/>
        </p:spPr>
      </p:sp>
      <p:sp>
        <p:nvSpPr>
          <p:cNvPr id="10" name="Shape 8"/>
          <p:cNvSpPr/>
          <p:nvPr/>
        </p:nvSpPr>
        <p:spPr>
          <a:xfrm>
            <a:off x="5294376" y="4160520"/>
            <a:ext cx="960120" cy="676656"/>
          </a:xfrm>
          <a:prstGeom prst="roundRect">
            <a:avLst>
              <a:gd name="adj" fmla="val 9459"/>
            </a:avLst>
          </a:prstGeom>
          <a:solidFill>
            <a:srgbClr val="5C8270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0" y="4160520"/>
            <a:ext cx="960120" cy="676656"/>
          </a:xfrm>
          <a:prstGeom prst="roundRect">
            <a:avLst>
              <a:gd name="adj" fmla="val 9459"/>
            </a:avLst>
          </a:prstGeom>
          <a:solidFill>
            <a:srgbClr val="3E807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07224" y="4160520"/>
            <a:ext cx="960120" cy="676656"/>
          </a:xfrm>
          <a:prstGeom prst="roundRect">
            <a:avLst>
              <a:gd name="adj" fmla="val 9459"/>
            </a:avLst>
          </a:prstGeom>
          <a:solidFill>
            <a:srgbClr val="5A6E92"/>
          </a:solidFill>
          <a:ln/>
        </p:spPr>
      </p:sp>
      <p:sp>
        <p:nvSpPr>
          <p:cNvPr id="13" name="Shape 11"/>
          <p:cNvSpPr/>
          <p:nvPr/>
        </p:nvSpPr>
        <p:spPr>
          <a:xfrm>
            <a:off x="8613648" y="4160520"/>
            <a:ext cx="960120" cy="676656"/>
          </a:xfrm>
          <a:prstGeom prst="roundRect">
            <a:avLst>
              <a:gd name="adj" fmla="val 9459"/>
            </a:avLst>
          </a:prstGeom>
          <a:solidFill>
            <a:srgbClr val="6E5A93"/>
          </a:solidFill>
          <a:ln/>
        </p:spPr>
      </p:sp>
      <p:sp>
        <p:nvSpPr>
          <p:cNvPr id="14" name="Text 12"/>
          <p:cNvSpPr/>
          <p:nvPr/>
        </p:nvSpPr>
        <p:spPr>
          <a:xfrm>
            <a:off x="3081528" y="487375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C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87952" y="487375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C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textures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294376" y="487375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C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texture+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0" y="487375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C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07224" y="487375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C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613648" y="487375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C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884664" y="4160520"/>
            <a:ext cx="109728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9050">
            <a:solidFill>
              <a:srgbClr val="3E80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84664" y="4160520"/>
            <a:ext cx="1097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80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 gφ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88920" y="4498848"/>
            <a:ext cx="292608" cy="0"/>
          </a:xfrm>
          <a:prstGeom prst="line">
            <a:avLst/>
          </a:prstGeom>
          <a:noFill/>
          <a:ln w="19050">
            <a:solidFill>
              <a:srgbClr val="CFCF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73768" y="4498848"/>
            <a:ext cx="164592" cy="0"/>
          </a:xfrm>
          <a:prstGeom prst="line">
            <a:avLst/>
          </a:prstGeom>
          <a:noFill/>
          <a:ln w="19050">
            <a:solidFill>
              <a:srgbClr val="3E80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74520" y="5148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 →  specific   (early layers transfer best)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Kumar   ·   Suresh Babu Gandla   ·   Laishram Khumanleima Chanu   ·   Mahesh V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2E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— FROM ZERO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input to a decision: the anatomy of a network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258775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EDED5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19072"/>
            <a:ext cx="146304" cy="146304"/>
          </a:xfrm>
          <a:prstGeom prst="ellipse">
            <a:avLst/>
          </a:prstGeom>
          <a:solidFill>
            <a:srgbClr val="B9863B"/>
          </a:solidFill>
          <a:ln/>
        </p:spPr>
      </p:sp>
      <p:sp>
        <p:nvSpPr>
          <p:cNvPr id="6" name="Text 4"/>
          <p:cNvSpPr/>
          <p:nvPr/>
        </p:nvSpPr>
        <p:spPr>
          <a:xfrm>
            <a:off x="1060704" y="1627632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048256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composition of simple layers; each applies learned weights and a non-linearity.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19272" y="1481328"/>
            <a:ext cx="258775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EDED5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20440" y="1719072"/>
            <a:ext cx="146304" cy="146304"/>
          </a:xfrm>
          <a:prstGeom prst="ellipse">
            <a:avLst/>
          </a:prstGeom>
          <a:solidFill>
            <a:srgbClr val="3E8073"/>
          </a:solidFill>
          <a:ln/>
        </p:spPr>
      </p:sp>
      <p:sp>
        <p:nvSpPr>
          <p:cNvPr id="10" name="Text 8"/>
          <p:cNvSpPr/>
          <p:nvPr/>
        </p:nvSpPr>
        <p:spPr>
          <a:xfrm>
            <a:off x="3739896" y="1627632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2048256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layer has noticed — generic edges low down, specific meaning higher up.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98464" y="1481328"/>
            <a:ext cx="258775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EDED5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99632" y="1719072"/>
            <a:ext cx="146304" cy="146304"/>
          </a:xfrm>
          <a:prstGeom prst="ellipse">
            <a:avLst/>
          </a:prstGeom>
          <a:solidFill>
            <a:srgbClr val="6E5A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19088" y="1627632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Extractor + Head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99632" y="2048256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fθ learns how to see; gφ learns what to call it. The model is their composition.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77656" y="1481328"/>
            <a:ext cx="258775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EDED5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878824" y="1719072"/>
            <a:ext cx="146304" cy="146304"/>
          </a:xfrm>
          <a:prstGeom prst="ellipse">
            <a:avLst/>
          </a:prstGeom>
          <a:solidFill>
            <a:srgbClr val="2E4769"/>
          </a:solidFill>
          <a:ln/>
        </p:spPr>
      </p:sp>
      <p:sp>
        <p:nvSpPr>
          <p:cNvPr id="18" name="Text 16"/>
          <p:cNvSpPr/>
          <p:nvPr/>
        </p:nvSpPr>
        <p:spPr>
          <a:xfrm>
            <a:off x="9098280" y="1627632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Pretrained model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78824" y="2048256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whose θ are already fitted on a large set (ImageNet ≈ 1.2M images).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017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that makes reuse possible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3657600"/>
            <a:ext cx="9144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CFCF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6576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47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 x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74520" y="3447288"/>
            <a:ext cx="7242048" cy="1371600"/>
          </a:xfrm>
          <a:prstGeom prst="roundRect">
            <a:avLst>
              <a:gd name="adj" fmla="val 4000"/>
            </a:avLst>
          </a:prstGeom>
          <a:ln w="12700">
            <a:solidFill>
              <a:srgbClr val="CFCFC4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1965960" y="3465576"/>
            <a:ext cx="7059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— feature extractor  fθ  (learned prior)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103120" y="3776472"/>
            <a:ext cx="1024128" cy="713232"/>
          </a:xfrm>
          <a:prstGeom prst="roundRect">
            <a:avLst>
              <a:gd name="adj" fmla="val 8974"/>
            </a:avLst>
          </a:prstGeom>
          <a:solidFill>
            <a:srgbClr val="B9863B"/>
          </a:solidFill>
          <a:ln/>
        </p:spPr>
      </p:sp>
      <p:sp>
        <p:nvSpPr>
          <p:cNvPr id="26" name="Text 24"/>
          <p:cNvSpPr/>
          <p:nvPr/>
        </p:nvSpPr>
        <p:spPr>
          <a:xfrm>
            <a:off x="2103120" y="451713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C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conv1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55264" y="3776472"/>
            <a:ext cx="1024128" cy="713232"/>
          </a:xfrm>
          <a:prstGeom prst="roundRect">
            <a:avLst>
              <a:gd name="adj" fmla="val 8974"/>
            </a:avLst>
          </a:prstGeom>
          <a:solidFill>
            <a:srgbClr val="A6804A"/>
          </a:solidFill>
          <a:ln/>
        </p:spPr>
      </p:sp>
      <p:sp>
        <p:nvSpPr>
          <p:cNvPr id="28" name="Text 26"/>
          <p:cNvSpPr/>
          <p:nvPr/>
        </p:nvSpPr>
        <p:spPr>
          <a:xfrm>
            <a:off x="3255264" y="451713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C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407408" y="3776472"/>
            <a:ext cx="1024128" cy="713232"/>
          </a:xfrm>
          <a:prstGeom prst="roundRect">
            <a:avLst>
              <a:gd name="adj" fmla="val 8974"/>
            </a:avLst>
          </a:prstGeom>
          <a:solidFill>
            <a:srgbClr val="5C8270"/>
          </a:solidFill>
          <a:ln/>
        </p:spPr>
      </p:sp>
      <p:sp>
        <p:nvSpPr>
          <p:cNvPr id="30" name="Text 28"/>
          <p:cNvSpPr/>
          <p:nvPr/>
        </p:nvSpPr>
        <p:spPr>
          <a:xfrm>
            <a:off x="4407408" y="451713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C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conv3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559552" y="3776472"/>
            <a:ext cx="1024128" cy="713232"/>
          </a:xfrm>
          <a:prstGeom prst="roundRect">
            <a:avLst>
              <a:gd name="adj" fmla="val 8974"/>
            </a:avLst>
          </a:prstGeom>
          <a:solidFill>
            <a:srgbClr val="3E8073"/>
          </a:solidFill>
          <a:ln/>
        </p:spPr>
      </p:sp>
      <p:sp>
        <p:nvSpPr>
          <p:cNvPr id="32" name="Text 30"/>
          <p:cNvSpPr/>
          <p:nvPr/>
        </p:nvSpPr>
        <p:spPr>
          <a:xfrm>
            <a:off x="5559552" y="451713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C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conv4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711696" y="3776472"/>
            <a:ext cx="1024128" cy="713232"/>
          </a:xfrm>
          <a:prstGeom prst="roundRect">
            <a:avLst>
              <a:gd name="adj" fmla="val 8974"/>
            </a:avLst>
          </a:prstGeom>
          <a:solidFill>
            <a:srgbClr val="5A6E92"/>
          </a:solidFill>
          <a:ln/>
        </p:spPr>
      </p:sp>
      <p:sp>
        <p:nvSpPr>
          <p:cNvPr id="34" name="Text 32"/>
          <p:cNvSpPr/>
          <p:nvPr/>
        </p:nvSpPr>
        <p:spPr>
          <a:xfrm>
            <a:off x="6711696" y="451713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C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conv5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863840" y="3776472"/>
            <a:ext cx="1024128" cy="713232"/>
          </a:xfrm>
          <a:prstGeom prst="roundRect">
            <a:avLst>
              <a:gd name="adj" fmla="val 8974"/>
            </a:avLst>
          </a:prstGeom>
          <a:solidFill>
            <a:srgbClr val="6E5A93"/>
          </a:solidFill>
          <a:ln/>
        </p:spPr>
      </p:sp>
      <p:sp>
        <p:nvSpPr>
          <p:cNvPr id="36" name="Text 34"/>
          <p:cNvSpPr/>
          <p:nvPr/>
        </p:nvSpPr>
        <p:spPr>
          <a:xfrm>
            <a:off x="7863840" y="451713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C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372600" y="3657600"/>
            <a:ext cx="11430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3E80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72600" y="365760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80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 gφ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47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554480" y="4069080"/>
            <a:ext cx="320040" cy="0"/>
          </a:xfrm>
          <a:prstGeom prst="line">
            <a:avLst/>
          </a:prstGeom>
          <a:noFill/>
          <a:ln w="19050">
            <a:solidFill>
              <a:srgbClr val="CFCFC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16568" y="4069080"/>
            <a:ext cx="256032" cy="0"/>
          </a:xfrm>
          <a:prstGeom prst="line">
            <a:avLst/>
          </a:prstGeom>
          <a:noFill/>
          <a:ln w="19050">
            <a:solidFill>
              <a:srgbClr val="3E8073"/>
            </a:solidFill>
            <a:prstDash val="solid"/>
          </a:ln>
        </p:spPr>
      </p:sp>
      <p:pic>
        <p:nvPicPr>
          <p:cNvPr id="41" name="Image 0" descr="eq/fa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4518" y="5074920"/>
            <a:ext cx="2172485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2E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Standing on a model that already learned to see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learning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93852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source task to help a related target task. A domain is the data and its distribution; a task is what we predict.</a:t>
            </a:r>
            <a:endParaRPr lang="en-US" sz="1350" dirty="0"/>
          </a:p>
        </p:txBody>
      </p:sp>
      <p:pic>
        <p:nvPicPr>
          <p:cNvPr id="6" name="Image 0" descr="eq/domain_t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606040"/>
            <a:ext cx="3330079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540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but not identical:  DS ≠ DT  or  TS ≠ TT.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6118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reuse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395020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pretrained extractor fθ as a learned inductive prior — frozen or gently adapted — and concentrate new learning on the head gφ.</a:t>
            </a:r>
            <a:endParaRPr lang="en-US" sz="1350" dirty="0"/>
          </a:p>
        </p:txBody>
      </p:sp>
      <p:pic>
        <p:nvPicPr>
          <p:cNvPr id="10" name="Image 1" descr="eq/reu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800600"/>
            <a:ext cx="2792545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528523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extractor is never re-initialised to random noise — that single choice is the source of every benefit.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583680" y="1783080"/>
            <a:ext cx="4937760" cy="1371600"/>
          </a:xfrm>
          <a:prstGeom prst="roundRect">
            <a:avLst>
              <a:gd name="adj" fmla="val 4667"/>
            </a:avLst>
          </a:prstGeom>
          <a:solidFill>
            <a:srgbClr val="E9EDF3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12280" y="178308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Pretrained on ImageNet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1.2M images · 1000 classes · learned to see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851392" y="3310128"/>
            <a:ext cx="402336" cy="640080"/>
          </a:xfrm>
          <a:prstGeom prst="downArrow">
            <a:avLst/>
          </a:prstGeom>
          <a:solidFill>
            <a:srgbClr val="3E8073"/>
          </a:solidFill>
          <a:ln/>
        </p:spPr>
      </p:sp>
      <p:sp>
        <p:nvSpPr>
          <p:cNvPr id="15" name="Text 11"/>
          <p:cNvSpPr/>
          <p:nvPr/>
        </p:nvSpPr>
        <p:spPr>
          <a:xfrm>
            <a:off x="9372600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3E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learned features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223760" y="4114800"/>
            <a:ext cx="365760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9050">
            <a:solidFill>
              <a:srgbClr val="3E8073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0">
                <a:alpha val="16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452360" y="41148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— your task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chest X-rays · tiny dataset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583680" y="5577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data and labels — shared low-level vision.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2E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PAYS OFF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roles of feature reuse, in three themes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91056"/>
            <a:ext cx="164592" cy="164592"/>
          </a:xfrm>
          <a:prstGeom prst="ellipse">
            <a:avLst/>
          </a:prstGeom>
          <a:solidFill>
            <a:srgbClr val="B9863B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499616"/>
            <a:ext cx="3227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Cheaper &amp; faster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502152" cy="0"/>
          </a:xfrm>
          <a:prstGeom prst="line">
            <a:avLst/>
          </a:prstGeom>
          <a:noFill/>
          <a:ln w="12700">
            <a:solidFill>
              <a:srgbClr val="DEDE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12848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C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training time  </a:t>
            </a:r>
            <a:pPr indent="0" marL="0">
              <a:lnSpc>
                <a:spcPct val="98000"/>
              </a:lnSpc>
              <a:buNone/>
            </a:pPr>
            <a:r>
              <a:rPr lang="en-US" sz="1150" i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already knows edges, shapes, textures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889504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C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less data  </a:t>
            </a:r>
            <a:pPr indent="0" marL="0">
              <a:lnSpc>
                <a:spcPct val="98000"/>
              </a:lnSpc>
              <a:buNone/>
            </a:pPr>
            <a:r>
              <a:rPr lang="en-US" sz="1150" i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strong results on small datasets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C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convergence  </a:t>
            </a:r>
            <a:pPr indent="0" marL="0">
              <a:lnSpc>
                <a:spcPct val="98000"/>
              </a:lnSpc>
              <a:buNone/>
            </a:pPr>
            <a:r>
              <a:rPr lang="en-US" sz="1150" i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starts in a favourable region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4242816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C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compute cost  </a:t>
            </a:r>
            <a:pPr indent="0" marL="0">
              <a:lnSpc>
                <a:spcPct val="98000"/>
              </a:lnSpc>
              <a:buNone/>
            </a:pPr>
            <a:r>
              <a:rPr lang="en-US" sz="1150" i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lower GPU, memory, energy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24528" y="1645920"/>
            <a:ext cx="0" cy="4206240"/>
          </a:xfrm>
          <a:prstGeom prst="line">
            <a:avLst/>
          </a:prstGeom>
          <a:noFill/>
          <a:ln w="12700">
            <a:solidFill>
              <a:srgbClr val="DEDE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06824" y="1591056"/>
            <a:ext cx="164592" cy="164592"/>
          </a:xfrm>
          <a:prstGeom prst="ellipse">
            <a:avLst/>
          </a:prstGeom>
          <a:solidFill>
            <a:srgbClr val="3E8073"/>
          </a:solidFill>
          <a:ln/>
        </p:spPr>
      </p:sp>
      <p:sp>
        <p:nvSpPr>
          <p:cNvPr id="13" name="Text 11"/>
          <p:cNvSpPr/>
          <p:nvPr/>
        </p:nvSpPr>
        <p:spPr>
          <a:xfrm>
            <a:off x="4562856" y="1499616"/>
            <a:ext cx="3227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Stronger &amp; more robust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4306824" y="2011680"/>
            <a:ext cx="3502152" cy="0"/>
          </a:xfrm>
          <a:prstGeom prst="line">
            <a:avLst/>
          </a:prstGeom>
          <a:noFill/>
          <a:ln w="12700">
            <a:solidFill>
              <a:srgbClr val="DEDE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06824" y="2212848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C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performance  </a:t>
            </a:r>
            <a:pPr indent="0" marL="0">
              <a:lnSpc>
                <a:spcPct val="98000"/>
              </a:lnSpc>
              <a:buNone/>
            </a:pPr>
            <a:r>
              <a:rPr lang="en-US" sz="1150" i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strong prior lifts accuracy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306824" y="2889504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C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overfitting  </a:t>
            </a:r>
            <a:pPr indent="0" marL="0">
              <a:lnSpc>
                <a:spcPct val="98000"/>
              </a:lnSpc>
              <a:buNone/>
            </a:pPr>
            <a:r>
              <a:rPr lang="en-US" sz="1150" i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shrinks the hypothesis space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306824" y="356616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C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generic features  </a:t>
            </a:r>
            <a:pPr indent="0" marL="0">
              <a:lnSpc>
                <a:spcPct val="98000"/>
              </a:lnSpc>
              <a:buNone/>
            </a:pPr>
            <a:r>
              <a:rPr lang="en-US" sz="1150" i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reusable Gabor-like filters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891272" y="1645920"/>
            <a:ext cx="0" cy="4206240"/>
          </a:xfrm>
          <a:prstGeom prst="line">
            <a:avLst/>
          </a:prstGeom>
          <a:noFill/>
          <a:ln w="12700">
            <a:solidFill>
              <a:srgbClr val="DEDE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73568" y="1591056"/>
            <a:ext cx="164592" cy="164592"/>
          </a:xfrm>
          <a:prstGeom prst="ellipse">
            <a:avLst/>
          </a:prstGeom>
          <a:solidFill>
            <a:srgbClr val="6E5A93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1499616"/>
            <a:ext cx="3227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Broader &amp; more usable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973568" y="2011680"/>
            <a:ext cx="3502152" cy="0"/>
          </a:xfrm>
          <a:prstGeom prst="line">
            <a:avLst/>
          </a:prstGeom>
          <a:noFill/>
          <a:ln w="12700">
            <a:solidFill>
              <a:srgbClr val="DEDE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73568" y="2212848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C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transfer  </a:t>
            </a:r>
            <a:pPr indent="0" marL="0">
              <a:lnSpc>
                <a:spcPct val="98000"/>
              </a:lnSpc>
              <a:buNone/>
            </a:pPr>
            <a:r>
              <a:rPr lang="en-US" sz="1150" i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generalises despite shift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973568" y="2889504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C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DL accessible  </a:t>
            </a:r>
            <a:pPr indent="0" marL="0">
              <a:lnSpc>
                <a:spcPct val="98000"/>
              </a:lnSpc>
              <a:buNone/>
            </a:pPr>
            <a:r>
              <a:rPr lang="en-US" sz="1150" i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build on ResNet, VGG, BERT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973568" y="356616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C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fine-tuning  </a:t>
            </a:r>
            <a:pPr indent="0" marL="0">
              <a:lnSpc>
                <a:spcPct val="98000"/>
              </a:lnSpc>
              <a:buNone/>
            </a:pPr>
            <a:r>
              <a:rPr lang="en-US" sz="1150" i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retrain only final layers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2E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reasons feature reuse succeeds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881360" cy="420624"/>
          </a:xfrm>
          <a:prstGeom prst="roundRect">
            <a:avLst>
              <a:gd name="adj" fmla="val 8696"/>
            </a:avLst>
          </a:prstGeom>
          <a:solidFill>
            <a:srgbClr val="B9863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81328"/>
            <a:ext cx="1813560" cy="420624"/>
          </a:xfrm>
          <a:prstGeom prst="rect">
            <a:avLst/>
          </a:prstGeom>
          <a:solidFill>
            <a:srgbClr val="B9863B"/>
          </a:solidFill>
          <a:ln/>
        </p:spPr>
      </p:sp>
      <p:sp>
        <p:nvSpPr>
          <p:cNvPr id="6" name="Shape 4"/>
          <p:cNvSpPr/>
          <p:nvPr/>
        </p:nvSpPr>
        <p:spPr>
          <a:xfrm>
            <a:off x="2453640" y="1481328"/>
            <a:ext cx="1813560" cy="420624"/>
          </a:xfrm>
          <a:prstGeom prst="rect">
            <a:avLst/>
          </a:prstGeom>
          <a:solidFill>
            <a:srgbClr val="9E8052"/>
          </a:solidFill>
          <a:ln/>
        </p:spPr>
      </p:sp>
      <p:sp>
        <p:nvSpPr>
          <p:cNvPr id="7" name="Shape 5"/>
          <p:cNvSpPr/>
          <p:nvPr/>
        </p:nvSpPr>
        <p:spPr>
          <a:xfrm>
            <a:off x="4267200" y="1481328"/>
            <a:ext cx="1813560" cy="420624"/>
          </a:xfrm>
          <a:prstGeom prst="rect">
            <a:avLst/>
          </a:prstGeom>
          <a:solidFill>
            <a:srgbClr val="73846A"/>
          </a:solidFill>
          <a:ln/>
        </p:spPr>
      </p:sp>
      <p:sp>
        <p:nvSpPr>
          <p:cNvPr id="8" name="Shape 6"/>
          <p:cNvSpPr/>
          <p:nvPr/>
        </p:nvSpPr>
        <p:spPr>
          <a:xfrm>
            <a:off x="6080760" y="1481328"/>
            <a:ext cx="1813560" cy="420624"/>
          </a:xfrm>
          <a:prstGeom prst="rect">
            <a:avLst/>
          </a:prstGeom>
          <a:solidFill>
            <a:srgbClr val="3E8073"/>
          </a:solidFill>
          <a:ln/>
        </p:spPr>
      </p:sp>
      <p:sp>
        <p:nvSpPr>
          <p:cNvPr id="9" name="Shape 7"/>
          <p:cNvSpPr/>
          <p:nvPr/>
        </p:nvSpPr>
        <p:spPr>
          <a:xfrm>
            <a:off x="7894320" y="1481328"/>
            <a:ext cx="1813560" cy="420624"/>
          </a:xfrm>
          <a:prstGeom prst="rect">
            <a:avLst/>
          </a:prstGeom>
          <a:solidFill>
            <a:srgbClr val="517094"/>
          </a:solidFill>
          <a:ln/>
        </p:spPr>
      </p:sp>
      <p:sp>
        <p:nvSpPr>
          <p:cNvPr id="10" name="Shape 8"/>
          <p:cNvSpPr/>
          <p:nvPr/>
        </p:nvSpPr>
        <p:spPr>
          <a:xfrm>
            <a:off x="9707880" y="1481328"/>
            <a:ext cx="1813560" cy="420624"/>
          </a:xfrm>
          <a:prstGeom prst="rect">
            <a:avLst/>
          </a:prstGeom>
          <a:solidFill>
            <a:srgbClr val="6E5A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202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· generic · transfers best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0" y="19202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· specific · transfers worst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1517904"/>
            <a:ext cx="181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conv1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53640" y="1517904"/>
            <a:ext cx="181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conv2/3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67200" y="1517904"/>
            <a:ext cx="181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conv4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080760" y="1517904"/>
            <a:ext cx="181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conv5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894320" y="1517904"/>
            <a:ext cx="181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707880" y="1517904"/>
            <a:ext cx="181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" y="2468880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EDED5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261518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80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Early features are universal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68680" y="29718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First-layer filters resemble Gabor filters and colour blobs across datasets — a generic visual alphabet that transfers almost perfectly.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2468880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EDED5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0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0" y="261518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80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Transferability fades with depth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0800" y="29718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layers transfer well; deep layers specialise to the source. Adjacent layers co-adapt, so splitting them is fragile without fine-tuning.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114800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EDED5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0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426110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80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A better optimisation start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68680" y="46177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weights begin inside a favourable basin of the loss surface, so training converges in far fewer steps.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4114800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EDED5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0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0" y="426110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80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The prior is a regulariser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400800" y="46177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fθ shrinks the complexity to be fitted, so a tiny dataset still generalises well.</a:t>
            </a:r>
            <a:endParaRPr lang="en-US" sz="1200" dirty="0"/>
          </a:p>
        </p:txBody>
      </p:sp>
      <p:pic>
        <p:nvPicPr>
          <p:cNvPr id="31" name="Image 0" descr="eq/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5175504"/>
            <a:ext cx="2028933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2E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· 1 OF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frozen to fine-tuned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use the prior: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108960" y="1417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8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it</a:t>
            </a:r>
            <a:endParaRPr lang="en-US" sz="1200" dirty="0"/>
          </a:p>
        </p:txBody>
      </p:sp>
      <p:pic>
        <p:nvPicPr>
          <p:cNvPr id="6" name="Image 0" descr="eq/froz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417320"/>
            <a:ext cx="228005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75320" y="1417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adapt it</a:t>
            </a:r>
            <a:endParaRPr lang="en-US" sz="1200" dirty="0"/>
          </a:p>
        </p:txBody>
      </p:sp>
      <p:pic>
        <p:nvPicPr>
          <p:cNvPr id="8" name="Image 1" descr="eq/finetu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417320"/>
            <a:ext cx="1367842" cy="274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057400"/>
            <a:ext cx="1371600" cy="384048"/>
          </a:xfrm>
          <a:prstGeom prst="roundRect">
            <a:avLst>
              <a:gd name="adj" fmla="val 16667"/>
            </a:avLst>
          </a:prstGeom>
          <a:solidFill>
            <a:srgbClr val="B9863B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" y="20574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5.1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121408" y="2039112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Frozen feature extraction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40080" y="2606040"/>
            <a:ext cx="350215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3E807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22960" y="2606040"/>
            <a:ext cx="1926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E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862072" y="2606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E80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trained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40080" y="3063240"/>
            <a:ext cx="3502152" cy="384048"/>
          </a:xfrm>
          <a:prstGeom prst="roundRect">
            <a:avLst>
              <a:gd name="adj" fmla="val 16667"/>
            </a:avLst>
          </a:prstGeom>
          <a:solidFill>
            <a:srgbClr val="EFEFEA"/>
          </a:solidFill>
          <a:ln/>
        </p:spPr>
      </p:sp>
      <p:sp>
        <p:nvSpPr>
          <p:cNvPr id="16" name="Text 12"/>
          <p:cNvSpPr/>
          <p:nvPr/>
        </p:nvSpPr>
        <p:spPr>
          <a:xfrm>
            <a:off x="822960" y="3063240"/>
            <a:ext cx="1926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7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conv5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862072" y="30632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C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frozen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40080" y="3520440"/>
            <a:ext cx="3502152" cy="384048"/>
          </a:xfrm>
          <a:prstGeom prst="roundRect">
            <a:avLst>
              <a:gd name="adj" fmla="val 16667"/>
            </a:avLst>
          </a:prstGeom>
          <a:solidFill>
            <a:srgbClr val="EFEFEA"/>
          </a:solidFill>
          <a:ln/>
        </p:spPr>
      </p:sp>
      <p:sp>
        <p:nvSpPr>
          <p:cNvPr id="19" name="Text 15"/>
          <p:cNvSpPr/>
          <p:nvPr/>
        </p:nvSpPr>
        <p:spPr>
          <a:xfrm>
            <a:off x="822960" y="3520440"/>
            <a:ext cx="1926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7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conv4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2862072" y="35204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C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frozen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40080" y="3977640"/>
            <a:ext cx="3502152" cy="384048"/>
          </a:xfrm>
          <a:prstGeom prst="roundRect">
            <a:avLst>
              <a:gd name="adj" fmla="val 16667"/>
            </a:avLst>
          </a:prstGeom>
          <a:solidFill>
            <a:srgbClr val="EFEFEA"/>
          </a:solidFill>
          <a:ln/>
        </p:spPr>
      </p:sp>
      <p:sp>
        <p:nvSpPr>
          <p:cNvPr id="22" name="Text 18"/>
          <p:cNvSpPr/>
          <p:nvPr/>
        </p:nvSpPr>
        <p:spPr>
          <a:xfrm>
            <a:off x="822960" y="3977640"/>
            <a:ext cx="1926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7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conv2-3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862072" y="39776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C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frozen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40080" y="4434840"/>
            <a:ext cx="3502152" cy="384048"/>
          </a:xfrm>
          <a:prstGeom prst="roundRect">
            <a:avLst>
              <a:gd name="adj" fmla="val 16667"/>
            </a:avLst>
          </a:prstGeom>
          <a:solidFill>
            <a:srgbClr val="EFEFEA"/>
          </a:solidFill>
          <a:ln/>
        </p:spPr>
      </p:sp>
      <p:sp>
        <p:nvSpPr>
          <p:cNvPr id="25" name="Text 21"/>
          <p:cNvSpPr/>
          <p:nvPr/>
        </p:nvSpPr>
        <p:spPr>
          <a:xfrm>
            <a:off x="822960" y="4434840"/>
            <a:ext cx="1926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7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conv1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2862072" y="44348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C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frozen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40080" y="4946904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i="1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 </a:t>
            </a:r>
            <a:pPr indent="0" marL="0">
              <a:lnSpc>
                <a:spcPct val="98000"/>
              </a:lnSpc>
              <a:buNone/>
            </a:pPr>
            <a:r>
              <a:rPr lang="en-US" sz="1150" i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little data, target close to source.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640080" y="5458968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9A7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chest X-rays → frozen ResNet + logistic-regression head.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4306824" y="2057400"/>
            <a:ext cx="1371600" cy="384048"/>
          </a:xfrm>
          <a:prstGeom prst="roundRect">
            <a:avLst>
              <a:gd name="adj" fmla="val 16667"/>
            </a:avLst>
          </a:prstGeom>
          <a:solidFill>
            <a:srgbClr val="3E8073"/>
          </a:solidFill>
          <a:ln/>
        </p:spPr>
      </p:sp>
      <p:sp>
        <p:nvSpPr>
          <p:cNvPr id="30" name="Text 26"/>
          <p:cNvSpPr/>
          <p:nvPr/>
        </p:nvSpPr>
        <p:spPr>
          <a:xfrm>
            <a:off x="4306824" y="20574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5.2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5788152" y="2039112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fine-tuning</a:t>
            </a:r>
            <a:endParaRPr lang="en-US" sz="1450" dirty="0"/>
          </a:p>
        </p:txBody>
      </p:sp>
      <p:sp>
        <p:nvSpPr>
          <p:cNvPr id="32" name="Shape 28"/>
          <p:cNvSpPr/>
          <p:nvPr/>
        </p:nvSpPr>
        <p:spPr>
          <a:xfrm>
            <a:off x="4306824" y="2606040"/>
            <a:ext cx="350215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3E807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489704" y="2606040"/>
            <a:ext cx="1926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E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6528816" y="2606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E80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trained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4306824" y="3063240"/>
            <a:ext cx="350215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3E8073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489704" y="3063240"/>
            <a:ext cx="1926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E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conv5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6528816" y="30632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E80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trained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4306824" y="3520440"/>
            <a:ext cx="350215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3E8073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489704" y="3520440"/>
            <a:ext cx="1926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E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conv4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6528816" y="35204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E80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trained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4306824" y="3977640"/>
            <a:ext cx="350215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3E8073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489704" y="3977640"/>
            <a:ext cx="1926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E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conv2-3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6528816" y="39776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E80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trained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4306824" y="4434840"/>
            <a:ext cx="350215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3E8073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489704" y="4434840"/>
            <a:ext cx="1926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E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conv1</a:t>
            </a:r>
            <a:endParaRPr lang="en-US" sz="1100" dirty="0"/>
          </a:p>
        </p:txBody>
      </p:sp>
      <p:sp>
        <p:nvSpPr>
          <p:cNvPr id="46" name="Text 42"/>
          <p:cNvSpPr/>
          <p:nvPr/>
        </p:nvSpPr>
        <p:spPr>
          <a:xfrm>
            <a:off x="6528816" y="44348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E80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trained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4306824" y="4946904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i="1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 </a:t>
            </a:r>
            <a:pPr indent="0" marL="0">
              <a:lnSpc>
                <a:spcPct val="98000"/>
              </a:lnSpc>
              <a:buNone/>
            </a:pPr>
            <a:r>
              <a:rPr lang="en-US" sz="1150" i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Moderate–large data, real domain shift.</a:t>
            </a:r>
            <a:endParaRPr lang="en-US" sz="1150" dirty="0"/>
          </a:p>
        </p:txBody>
      </p:sp>
      <p:sp>
        <p:nvSpPr>
          <p:cNvPr id="48" name="Text 44"/>
          <p:cNvSpPr/>
          <p:nvPr/>
        </p:nvSpPr>
        <p:spPr>
          <a:xfrm>
            <a:off x="4306824" y="5458968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2F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dashcam frames → tune all layers (small LR).</a:t>
            </a:r>
            <a:endParaRPr lang="en-US" sz="1150" dirty="0"/>
          </a:p>
        </p:txBody>
      </p:sp>
      <p:sp>
        <p:nvSpPr>
          <p:cNvPr id="49" name="Shape 45"/>
          <p:cNvSpPr/>
          <p:nvPr/>
        </p:nvSpPr>
        <p:spPr>
          <a:xfrm>
            <a:off x="7973568" y="2057400"/>
            <a:ext cx="1371600" cy="384048"/>
          </a:xfrm>
          <a:prstGeom prst="roundRect">
            <a:avLst>
              <a:gd name="adj" fmla="val 16667"/>
            </a:avLst>
          </a:prstGeom>
          <a:solidFill>
            <a:srgbClr val="6E5A93"/>
          </a:solidFill>
          <a:ln/>
        </p:spPr>
      </p:sp>
      <p:sp>
        <p:nvSpPr>
          <p:cNvPr id="50" name="Text 46"/>
          <p:cNvSpPr/>
          <p:nvPr/>
        </p:nvSpPr>
        <p:spPr>
          <a:xfrm>
            <a:off x="7973568" y="20574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5.3</a:t>
            </a:r>
            <a:endParaRPr lang="en-US" sz="1200" dirty="0"/>
          </a:p>
        </p:txBody>
      </p:sp>
      <p:sp>
        <p:nvSpPr>
          <p:cNvPr id="51" name="Text 47"/>
          <p:cNvSpPr/>
          <p:nvPr/>
        </p:nvSpPr>
        <p:spPr>
          <a:xfrm>
            <a:off x="9454896" y="2039112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fine-tuning</a:t>
            </a:r>
            <a:endParaRPr lang="en-US" sz="1450" dirty="0"/>
          </a:p>
        </p:txBody>
      </p:sp>
      <p:sp>
        <p:nvSpPr>
          <p:cNvPr id="52" name="Shape 48"/>
          <p:cNvSpPr/>
          <p:nvPr/>
        </p:nvSpPr>
        <p:spPr>
          <a:xfrm>
            <a:off x="7973568" y="2606040"/>
            <a:ext cx="350215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3E8073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8156448" y="2606040"/>
            <a:ext cx="1926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E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endParaRPr lang="en-US" sz="1100" dirty="0"/>
          </a:p>
        </p:txBody>
      </p:sp>
      <p:sp>
        <p:nvSpPr>
          <p:cNvPr id="54" name="Text 50"/>
          <p:cNvSpPr/>
          <p:nvPr/>
        </p:nvSpPr>
        <p:spPr>
          <a:xfrm>
            <a:off x="10195560" y="2606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E80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trained</a:t>
            </a:r>
            <a:endParaRPr lang="en-US" sz="1000" dirty="0"/>
          </a:p>
        </p:txBody>
      </p:sp>
      <p:sp>
        <p:nvSpPr>
          <p:cNvPr id="55" name="Shape 51"/>
          <p:cNvSpPr/>
          <p:nvPr/>
        </p:nvSpPr>
        <p:spPr>
          <a:xfrm>
            <a:off x="7973568" y="3063240"/>
            <a:ext cx="350215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3E8073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8156448" y="3063240"/>
            <a:ext cx="1926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E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conv5</a:t>
            </a:r>
            <a:endParaRPr lang="en-US" sz="1100" dirty="0"/>
          </a:p>
        </p:txBody>
      </p:sp>
      <p:sp>
        <p:nvSpPr>
          <p:cNvPr id="57" name="Text 53"/>
          <p:cNvSpPr/>
          <p:nvPr/>
        </p:nvSpPr>
        <p:spPr>
          <a:xfrm>
            <a:off x="10195560" y="30632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E80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trained</a:t>
            </a:r>
            <a:endParaRPr lang="en-US" sz="1000" dirty="0"/>
          </a:p>
        </p:txBody>
      </p:sp>
      <p:sp>
        <p:nvSpPr>
          <p:cNvPr id="58" name="Shape 54"/>
          <p:cNvSpPr/>
          <p:nvPr/>
        </p:nvSpPr>
        <p:spPr>
          <a:xfrm>
            <a:off x="7973568" y="3520440"/>
            <a:ext cx="350215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3E8073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8156448" y="3520440"/>
            <a:ext cx="1926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E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conv4</a:t>
            </a:r>
            <a:endParaRPr lang="en-US" sz="1100" dirty="0"/>
          </a:p>
        </p:txBody>
      </p:sp>
      <p:sp>
        <p:nvSpPr>
          <p:cNvPr id="60" name="Text 56"/>
          <p:cNvSpPr/>
          <p:nvPr/>
        </p:nvSpPr>
        <p:spPr>
          <a:xfrm>
            <a:off x="10195560" y="35204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E80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trained</a:t>
            </a:r>
            <a:endParaRPr lang="en-US" sz="1000" dirty="0"/>
          </a:p>
        </p:txBody>
      </p:sp>
      <p:sp>
        <p:nvSpPr>
          <p:cNvPr id="61" name="Shape 57"/>
          <p:cNvSpPr/>
          <p:nvPr/>
        </p:nvSpPr>
        <p:spPr>
          <a:xfrm>
            <a:off x="7973568" y="3977640"/>
            <a:ext cx="3502152" cy="384048"/>
          </a:xfrm>
          <a:prstGeom prst="roundRect">
            <a:avLst>
              <a:gd name="adj" fmla="val 16667"/>
            </a:avLst>
          </a:prstGeom>
          <a:solidFill>
            <a:srgbClr val="EFEFEA"/>
          </a:solidFill>
          <a:ln/>
        </p:spPr>
      </p:sp>
      <p:sp>
        <p:nvSpPr>
          <p:cNvPr id="62" name="Text 58"/>
          <p:cNvSpPr/>
          <p:nvPr/>
        </p:nvSpPr>
        <p:spPr>
          <a:xfrm>
            <a:off x="8156448" y="3977640"/>
            <a:ext cx="1926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7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conv2-3</a:t>
            </a:r>
            <a:endParaRPr lang="en-US" sz="1100" dirty="0"/>
          </a:p>
        </p:txBody>
      </p:sp>
      <p:sp>
        <p:nvSpPr>
          <p:cNvPr id="63" name="Text 59"/>
          <p:cNvSpPr/>
          <p:nvPr/>
        </p:nvSpPr>
        <p:spPr>
          <a:xfrm>
            <a:off x="10195560" y="39776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C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frozen</a:t>
            </a:r>
            <a:endParaRPr lang="en-US" sz="1000" dirty="0"/>
          </a:p>
        </p:txBody>
      </p:sp>
      <p:sp>
        <p:nvSpPr>
          <p:cNvPr id="64" name="Shape 60"/>
          <p:cNvSpPr/>
          <p:nvPr/>
        </p:nvSpPr>
        <p:spPr>
          <a:xfrm>
            <a:off x="7973568" y="4434840"/>
            <a:ext cx="3502152" cy="384048"/>
          </a:xfrm>
          <a:prstGeom prst="roundRect">
            <a:avLst>
              <a:gd name="adj" fmla="val 16667"/>
            </a:avLst>
          </a:prstGeom>
          <a:solidFill>
            <a:srgbClr val="EFEFEA"/>
          </a:solidFill>
          <a:ln/>
        </p:spPr>
      </p:sp>
      <p:sp>
        <p:nvSpPr>
          <p:cNvPr id="65" name="Text 61"/>
          <p:cNvSpPr/>
          <p:nvPr/>
        </p:nvSpPr>
        <p:spPr>
          <a:xfrm>
            <a:off x="8156448" y="4434840"/>
            <a:ext cx="1926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7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conv1</a:t>
            </a:r>
            <a:endParaRPr lang="en-US" sz="1100" dirty="0"/>
          </a:p>
        </p:txBody>
      </p:sp>
      <p:sp>
        <p:nvSpPr>
          <p:cNvPr id="66" name="Text 62"/>
          <p:cNvSpPr/>
          <p:nvPr/>
        </p:nvSpPr>
        <p:spPr>
          <a:xfrm>
            <a:off x="10195560" y="44348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C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frozen</a:t>
            </a:r>
            <a:endParaRPr lang="en-US" sz="1000" dirty="0"/>
          </a:p>
        </p:txBody>
      </p:sp>
      <p:sp>
        <p:nvSpPr>
          <p:cNvPr id="67" name="Text 63"/>
          <p:cNvSpPr/>
          <p:nvPr/>
        </p:nvSpPr>
        <p:spPr>
          <a:xfrm>
            <a:off x="7973568" y="4946904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i="1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 </a:t>
            </a:r>
            <a:pPr indent="0" marL="0">
              <a:lnSpc>
                <a:spcPct val="98000"/>
              </a:lnSpc>
              <a:buNone/>
            </a:pPr>
            <a:r>
              <a:rPr lang="en-US" sz="1150" i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Small–moderate data; protect generic layers.</a:t>
            </a:r>
            <a:endParaRPr lang="en-US" sz="1150" dirty="0"/>
          </a:p>
        </p:txBody>
      </p:sp>
      <p:sp>
        <p:nvSpPr>
          <p:cNvPr id="68" name="Text 64"/>
          <p:cNvSpPr/>
          <p:nvPr/>
        </p:nvSpPr>
        <p:spPr>
          <a:xfrm>
            <a:off x="7973568" y="5458968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574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 product photos → freeze conv1-3, tune conv4-5 + head.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2E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· 2 OF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Specialised reuse strategies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02152" cy="4526280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 w="12700">
            <a:solidFill>
              <a:srgbClr val="DEDED5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10512"/>
            <a:ext cx="1371600" cy="384048"/>
          </a:xfrm>
          <a:prstGeom prst="roundRect">
            <a:avLst>
              <a:gd name="adj" fmla="val 16667"/>
            </a:avLst>
          </a:prstGeom>
          <a:solidFill>
            <a:srgbClr val="5A6E9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105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5.4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304288"/>
            <a:ext cx="30449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Gradual unfreezing &amp; discriminative LR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051560" y="3072384"/>
            <a:ext cx="2679192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6510">
            <a:solidFill>
              <a:srgbClr val="3E80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072384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E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①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51560" y="3438144"/>
            <a:ext cx="2679192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6510">
            <a:solidFill>
              <a:srgbClr val="3E80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438144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E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②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51560" y="3803904"/>
            <a:ext cx="2679192" cy="310896"/>
          </a:xfrm>
          <a:prstGeom prst="roundRect">
            <a:avLst>
              <a:gd name="adj" fmla="val 20588"/>
            </a:avLst>
          </a:prstGeom>
          <a:solidFill>
            <a:srgbClr val="EFEFEA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803904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7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· frozen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51560" y="4169664"/>
            <a:ext cx="2679192" cy="310896"/>
          </a:xfrm>
          <a:prstGeom prst="roundRect">
            <a:avLst>
              <a:gd name="adj" fmla="val 20588"/>
            </a:avLst>
          </a:prstGeom>
          <a:solidFill>
            <a:srgbClr val="EFEFEA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169664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7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 · frozen</a:t>
            </a:r>
            <a:endParaRPr lang="en-US" sz="950" dirty="0"/>
          </a:p>
        </p:txBody>
      </p:sp>
      <p:pic>
        <p:nvPicPr>
          <p:cNvPr id="16" name="Image 0" descr="eq/discl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372" y="4681728"/>
            <a:ext cx="2283569" cy="2560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68680" y="5010912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layers top-down across epochs; give each layer its own rate, gentler for earlier ones. Prevents catastrophic forgetting.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68680" y="56692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574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95000"/>
              </a:lnSpc>
              <a:buNone/>
            </a:pPr>
            <a:r>
              <a:rPr lang="en-US" sz="1050" i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sentiment of product reviews with only a few thousand labels (ULMFiT).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306824" y="1554480"/>
            <a:ext cx="3502152" cy="4526280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 w="12700">
            <a:solidFill>
              <a:srgbClr val="DEDED5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35424" y="1810512"/>
            <a:ext cx="1371600" cy="384048"/>
          </a:xfrm>
          <a:prstGeom prst="roundRect">
            <a:avLst>
              <a:gd name="adj" fmla="val 16667"/>
            </a:avLst>
          </a:prstGeom>
          <a:solidFill>
            <a:srgbClr val="5C8270"/>
          </a:solidFill>
          <a:ln/>
        </p:spPr>
      </p:sp>
      <p:sp>
        <p:nvSpPr>
          <p:cNvPr id="21" name="Text 18"/>
          <p:cNvSpPr/>
          <p:nvPr/>
        </p:nvSpPr>
        <p:spPr>
          <a:xfrm>
            <a:off x="4535424" y="18105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5.5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35424" y="2304288"/>
            <a:ext cx="30449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Multi-layer feature fusion</a:t>
            </a:r>
            <a:endParaRPr lang="en-US" sz="1550" dirty="0"/>
          </a:p>
        </p:txBody>
      </p:sp>
      <p:sp>
        <p:nvSpPr>
          <p:cNvPr id="23" name="Shape 20"/>
          <p:cNvSpPr/>
          <p:nvPr/>
        </p:nvSpPr>
        <p:spPr>
          <a:xfrm>
            <a:off x="4626864" y="3072384"/>
            <a:ext cx="1554480" cy="292608"/>
          </a:xfrm>
          <a:prstGeom prst="roundRect">
            <a:avLst>
              <a:gd name="adj" fmla="val 21875"/>
            </a:avLst>
          </a:prstGeom>
          <a:solidFill>
            <a:srgbClr val="B9863B"/>
          </a:solidFill>
          <a:ln/>
        </p:spPr>
      </p:sp>
      <p:sp>
        <p:nvSpPr>
          <p:cNvPr id="24" name="Text 21"/>
          <p:cNvSpPr/>
          <p:nvPr/>
        </p:nvSpPr>
        <p:spPr>
          <a:xfrm>
            <a:off x="4626864" y="30723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shallow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626864" y="3438144"/>
            <a:ext cx="1554480" cy="292608"/>
          </a:xfrm>
          <a:prstGeom prst="roundRect">
            <a:avLst>
              <a:gd name="adj" fmla="val 21875"/>
            </a:avLst>
          </a:prstGeom>
          <a:solidFill>
            <a:srgbClr val="3E8073"/>
          </a:solidFill>
          <a:ln/>
        </p:spPr>
      </p:sp>
      <p:sp>
        <p:nvSpPr>
          <p:cNvPr id="26" name="Text 23"/>
          <p:cNvSpPr/>
          <p:nvPr/>
        </p:nvSpPr>
        <p:spPr>
          <a:xfrm>
            <a:off x="4626864" y="34381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626864" y="3803904"/>
            <a:ext cx="1554480" cy="292608"/>
          </a:xfrm>
          <a:prstGeom prst="roundRect">
            <a:avLst>
              <a:gd name="adj" fmla="val 21875"/>
            </a:avLst>
          </a:prstGeom>
          <a:solidFill>
            <a:srgbClr val="6E5A93"/>
          </a:solidFill>
          <a:ln/>
        </p:spPr>
      </p:sp>
      <p:sp>
        <p:nvSpPr>
          <p:cNvPr id="28" name="Text 25"/>
          <p:cNvSpPr/>
          <p:nvPr/>
        </p:nvSpPr>
        <p:spPr>
          <a:xfrm>
            <a:off x="4626864" y="38039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638544" y="3438144"/>
            <a:ext cx="100584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3E807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38544" y="343814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E80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fused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181344" y="3218688"/>
            <a:ext cx="457200" cy="0"/>
          </a:xfrm>
          <a:prstGeom prst="line">
            <a:avLst/>
          </a:prstGeom>
          <a:noFill/>
          <a:ln w="16510">
            <a:solidFill>
              <a:srgbClr val="B9863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181344" y="3584448"/>
            <a:ext cx="457200" cy="0"/>
          </a:xfrm>
          <a:prstGeom prst="line">
            <a:avLst/>
          </a:prstGeom>
          <a:noFill/>
          <a:ln w="16510">
            <a:solidFill>
              <a:srgbClr val="3E807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181344" y="3950208"/>
            <a:ext cx="457200" cy="0"/>
          </a:xfrm>
          <a:prstGeom prst="line">
            <a:avLst/>
          </a:prstGeom>
          <a:noFill/>
          <a:ln w="16510">
            <a:solidFill>
              <a:srgbClr val="6E5A93"/>
            </a:solidFill>
            <a:prstDash val="solid"/>
          </a:ln>
        </p:spPr>
      </p:sp>
      <p:pic>
        <p:nvPicPr>
          <p:cNvPr id="34" name="Image 1" descr="eq/fu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787" y="4681728"/>
            <a:ext cx="2254226" cy="256032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4535424" y="5010912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features from several depths at once — shallow layers give location, deep layers give meaning — and combine them.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4535424" y="56692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574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95000"/>
              </a:lnSpc>
              <a:buNone/>
            </a:pPr>
            <a:r>
              <a:rPr lang="en-US" sz="1050" i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Tumour-boundary segmentation / satellite land-use with a U-Net or FPN encoder.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7973568" y="1554480"/>
            <a:ext cx="3502152" cy="4526280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 w="12700">
            <a:solidFill>
              <a:srgbClr val="DEDED5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0">
                <a:alpha val="16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8202168" y="1810512"/>
            <a:ext cx="1371600" cy="384048"/>
          </a:xfrm>
          <a:prstGeom prst="roundRect">
            <a:avLst>
              <a:gd name="adj" fmla="val 16667"/>
            </a:avLst>
          </a:prstGeom>
          <a:solidFill>
            <a:srgbClr val="6E5A93"/>
          </a:solidFill>
          <a:ln/>
        </p:spPr>
      </p:sp>
      <p:sp>
        <p:nvSpPr>
          <p:cNvPr id="39" name="Text 35"/>
          <p:cNvSpPr/>
          <p:nvPr/>
        </p:nvSpPr>
        <p:spPr>
          <a:xfrm>
            <a:off x="8202168" y="18105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5.6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8202168" y="2304288"/>
            <a:ext cx="30449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Parameter-efficient reuse (LoRA / adapters)</a:t>
            </a:r>
            <a:endParaRPr lang="en-US" sz="1550" dirty="0"/>
          </a:p>
        </p:txBody>
      </p:sp>
      <p:sp>
        <p:nvSpPr>
          <p:cNvPr id="41" name="Shape 37"/>
          <p:cNvSpPr/>
          <p:nvPr/>
        </p:nvSpPr>
        <p:spPr>
          <a:xfrm>
            <a:off x="8385048" y="3072384"/>
            <a:ext cx="2679192" cy="310896"/>
          </a:xfrm>
          <a:prstGeom prst="roundRect">
            <a:avLst>
              <a:gd name="adj" fmla="val 20588"/>
            </a:avLst>
          </a:prstGeom>
          <a:solidFill>
            <a:srgbClr val="EFEFEA"/>
          </a:solidFill>
          <a:ln/>
        </p:spPr>
      </p:sp>
      <p:sp>
        <p:nvSpPr>
          <p:cNvPr id="42" name="Text 38"/>
          <p:cNvSpPr/>
          <p:nvPr/>
        </p:nvSpPr>
        <p:spPr>
          <a:xfrm>
            <a:off x="8522208" y="3072384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7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attention · frozen W₀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8385048" y="3438144"/>
            <a:ext cx="2679192" cy="310896"/>
          </a:xfrm>
          <a:prstGeom prst="roundRect">
            <a:avLst>
              <a:gd name="adj" fmla="val 20588"/>
            </a:avLst>
          </a:prstGeom>
          <a:solidFill>
            <a:srgbClr val="EFE9F5"/>
          </a:solidFill>
          <a:ln w="16510">
            <a:solidFill>
              <a:srgbClr val="6E5A93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522208" y="3438144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4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 LoRA (BA) · trained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8385048" y="3803904"/>
            <a:ext cx="2679192" cy="310896"/>
          </a:xfrm>
          <a:prstGeom prst="roundRect">
            <a:avLst>
              <a:gd name="adj" fmla="val 20588"/>
            </a:avLst>
          </a:prstGeom>
          <a:solidFill>
            <a:srgbClr val="EFEFEA"/>
          </a:solidFill>
          <a:ln/>
        </p:spPr>
      </p:sp>
      <p:sp>
        <p:nvSpPr>
          <p:cNvPr id="46" name="Text 42"/>
          <p:cNvSpPr/>
          <p:nvPr/>
        </p:nvSpPr>
        <p:spPr>
          <a:xfrm>
            <a:off x="8522208" y="3803904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7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feed-forward · frozen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8385048" y="4169664"/>
            <a:ext cx="2679192" cy="310896"/>
          </a:xfrm>
          <a:prstGeom prst="roundRect">
            <a:avLst>
              <a:gd name="adj" fmla="val 20588"/>
            </a:avLst>
          </a:prstGeom>
          <a:solidFill>
            <a:srgbClr val="EFE9F5"/>
          </a:solidFill>
          <a:ln w="16510">
            <a:solidFill>
              <a:srgbClr val="6E5A93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8522208" y="4169664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4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 adapter · trained</a:t>
            </a:r>
            <a:endParaRPr lang="en-US" sz="900" dirty="0"/>
          </a:p>
        </p:txBody>
      </p:sp>
      <p:pic>
        <p:nvPicPr>
          <p:cNvPr id="49" name="Image 2" descr="eq/lo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4681728"/>
            <a:ext cx="3044952" cy="252291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8202168" y="5010912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whole backbone frozen; train tiny inserted modules or a low-rank weight update — under 1% of parameters.</a:t>
            </a:r>
            <a:endParaRPr lang="en-US" sz="1100" dirty="0"/>
          </a:p>
        </p:txBody>
      </p:sp>
      <p:sp>
        <p:nvSpPr>
          <p:cNvPr id="51" name="Text 46"/>
          <p:cNvSpPr/>
          <p:nvPr/>
        </p:nvSpPr>
        <p:spPr>
          <a:xfrm>
            <a:off x="8202168" y="56692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574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95000"/>
              </a:lnSpc>
              <a:buNone/>
            </a:pPr>
            <a:r>
              <a:rPr lang="en-US" sz="1050" i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a 7B-parameter LLM to legal drafting; ship a small adapter per client.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2E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strategy, and when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554480" y="16824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domain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95344" y="16824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domain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" y="27249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506577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554480" y="1993392"/>
            <a:ext cx="219456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EDED5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737360" y="2194560"/>
            <a:ext cx="137160" cy="137160"/>
          </a:xfrm>
          <a:prstGeom prst="ellipse">
            <a:avLst/>
          </a:prstGeom>
          <a:solidFill>
            <a:srgbClr val="B9863B"/>
          </a:solidFill>
          <a:ln/>
        </p:spPr>
      </p:sp>
      <p:sp>
        <p:nvSpPr>
          <p:cNvPr id="10" name="Text 8"/>
          <p:cNvSpPr/>
          <p:nvPr/>
        </p:nvSpPr>
        <p:spPr>
          <a:xfrm>
            <a:off x="1938528" y="2121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§5.1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55648" y="256032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Frozen extraction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755648" y="3474720"/>
            <a:ext cx="1792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i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linear head on fixed 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95344" y="1993392"/>
            <a:ext cx="219456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EDED5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78224" y="2194560"/>
            <a:ext cx="137160" cy="137160"/>
          </a:xfrm>
          <a:prstGeom prst="ellipse">
            <a:avLst/>
          </a:prstGeom>
          <a:solidFill>
            <a:srgbClr val="6E5A93"/>
          </a:solidFill>
          <a:ln/>
        </p:spPr>
      </p:sp>
      <p:sp>
        <p:nvSpPr>
          <p:cNvPr id="15" name="Text 13"/>
          <p:cNvSpPr/>
          <p:nvPr/>
        </p:nvSpPr>
        <p:spPr>
          <a:xfrm>
            <a:off x="4279392" y="2121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5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§5.3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96512" y="256032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Freeze early, tune a little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096512" y="3474720"/>
            <a:ext cx="1792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i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upper layers; watch negative transfer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554480" y="4334256"/>
            <a:ext cx="219456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EDED5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737360" y="4535424"/>
            <a:ext cx="137160" cy="137160"/>
          </a:xfrm>
          <a:prstGeom prst="ellipse">
            <a:avLst/>
          </a:prstGeom>
          <a:solidFill>
            <a:srgbClr val="3E8073"/>
          </a:solidFill>
          <a:ln/>
        </p:spPr>
      </p:sp>
      <p:sp>
        <p:nvSpPr>
          <p:cNvPr id="20" name="Text 18"/>
          <p:cNvSpPr/>
          <p:nvPr/>
        </p:nvSpPr>
        <p:spPr>
          <a:xfrm>
            <a:off x="1938528" y="44622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80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§5.2 / §5.3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55648" y="4901184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755648" y="5815584"/>
            <a:ext cx="1792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i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data to adapt safely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95344" y="4334256"/>
            <a:ext cx="219456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EDED5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078224" y="4535424"/>
            <a:ext cx="137160" cy="137160"/>
          </a:xfrm>
          <a:prstGeom prst="ellipse">
            <a:avLst/>
          </a:prstGeom>
          <a:solidFill>
            <a:srgbClr val="3E8073"/>
          </a:solidFill>
          <a:ln/>
        </p:spPr>
      </p:sp>
      <p:sp>
        <p:nvSpPr>
          <p:cNvPr id="25" name="Text 23"/>
          <p:cNvSpPr/>
          <p:nvPr/>
        </p:nvSpPr>
        <p:spPr>
          <a:xfrm>
            <a:off x="4279392" y="44622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80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§5.2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096512" y="4901184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 all layers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4096512" y="5815584"/>
            <a:ext cx="1792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i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every layer re-coordinate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818120" y="2057400"/>
            <a:ext cx="37033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DED5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19288" y="2304288"/>
            <a:ext cx="137160" cy="137160"/>
          </a:xfrm>
          <a:prstGeom prst="ellipse">
            <a:avLst/>
          </a:prstGeom>
          <a:solidFill>
            <a:srgbClr val="6E5A93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22037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Backbone is very large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22960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ViT → LoRA &amp; adapters (§5.6)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818120" y="3200400"/>
            <a:ext cx="37033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DED5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0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19288" y="3447288"/>
            <a:ext cx="137160" cy="137160"/>
          </a:xfrm>
          <a:prstGeom prst="ellipse">
            <a:avLst/>
          </a:prstGeom>
          <a:solidFill>
            <a:srgbClr val="5C8270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0" y="33467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prediction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822960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/ detect → multi-depth fusion (§5.5)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818120" y="4480560"/>
            <a:ext cx="3703320" cy="960120"/>
          </a:xfrm>
          <a:prstGeom prst="roundRect">
            <a:avLst>
              <a:gd name="adj" fmla="val 6667"/>
            </a:avLst>
          </a:prstGeom>
          <a:solidFill>
            <a:srgbClr val="E9EDF3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0" y="448056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E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thumb. 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data + more similar → freeze more. More data + a larger gap → let the weights move.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2E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REUSE HURTS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 is a bet on relatedness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502152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EDED5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627632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transfer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41248" y="1984248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unrelated source can do worse than random init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06824" y="1481328"/>
            <a:ext cx="3502152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EDED5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07992" y="1627632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mismatch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07992" y="1984248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tuned to source statistics may not fit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73568" y="1481328"/>
            <a:ext cx="3502152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EDED5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74736" y="1627632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lock-in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174736" y="1984248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inherit input size, depth and design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706624"/>
            <a:ext cx="3502152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EDED5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2852928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Inherited bias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1248" y="3209544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source-dataset blind spots carry into your task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06824" y="2706624"/>
            <a:ext cx="3502152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EDED5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07992" y="2852928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overhead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07992" y="3209544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backbones are heavy at inference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73568" y="2706624"/>
            <a:ext cx="3502152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EDED5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74736" y="2852928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 pitfalls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174736" y="3209544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LR / too many layers → forgetting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shift comes in named forms: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910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Covariate</a:t>
            </a:r>
            <a:endParaRPr lang="en-US" sz="1200" dirty="0"/>
          </a:p>
        </p:txBody>
      </p:sp>
      <p:pic>
        <p:nvPicPr>
          <p:cNvPr id="24" name="Image 0" descr="eq/shift_co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4928616"/>
            <a:ext cx="1242549" cy="23774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40080" y="5330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/ prior</a:t>
            </a:r>
            <a:endParaRPr lang="en-US" sz="1200" dirty="0"/>
          </a:p>
        </p:txBody>
      </p:sp>
      <p:pic>
        <p:nvPicPr>
          <p:cNvPr id="26" name="Image 1" descr="eq/shift_l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5349240"/>
            <a:ext cx="1149844" cy="23774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40080" y="57515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(dangerous)</a:t>
            </a:r>
            <a:endParaRPr lang="en-US" sz="1200" dirty="0"/>
          </a:p>
        </p:txBody>
      </p:sp>
      <p:pic>
        <p:nvPicPr>
          <p:cNvPr id="28" name="Image 2" descr="eq/shift_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5769864"/>
            <a:ext cx="1673179" cy="237744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6675120" y="4617720"/>
            <a:ext cx="48463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EDED5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0">
                <a:alpha val="16000"/>
              </a:srgbClr>
            </a:outerShdw>
          </a:effectLst>
        </p:spPr>
      </p:sp>
      <p:sp>
        <p:nvSpPr>
          <p:cNvPr id="30" name="Text 25"/>
          <p:cNvSpPr/>
          <p:nvPr/>
        </p:nvSpPr>
        <p:spPr>
          <a:xfrm>
            <a:off x="6903720" y="47457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large domain gap is risky</a:t>
            </a:r>
            <a:endParaRPr lang="en-US" sz="1200" dirty="0"/>
          </a:p>
        </p:txBody>
      </p:sp>
      <p:pic>
        <p:nvPicPr>
          <p:cNvPr id="31" name="Image 3" descr="eq/bou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0246" y="5129784"/>
            <a:ext cx="3016069" cy="2743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903720" y="55504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error  ≤  source error  +  domain divergence  +  λ*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40" kern="0" dirty="0">
                <a:solidFill>
                  <a:srgbClr val="2E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C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 what is known; learn only what is new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most · train least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949440" y="1325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4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only · train most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67512" y="1600200"/>
            <a:ext cx="1758696" cy="731520"/>
          </a:xfrm>
          <a:prstGeom prst="roundRect">
            <a:avLst>
              <a:gd name="adj" fmla="val 8750"/>
            </a:avLst>
          </a:prstGeom>
          <a:solidFill>
            <a:srgbClr val="B9863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181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1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81072" y="1600200"/>
            <a:ext cx="1758696" cy="731520"/>
          </a:xfrm>
          <a:prstGeom prst="roundRect">
            <a:avLst>
              <a:gd name="adj" fmla="val 8750"/>
            </a:avLst>
          </a:prstGeom>
          <a:solidFill>
            <a:srgbClr val="8A8050"/>
          </a:solidFill>
          <a:ln/>
        </p:spPr>
      </p:sp>
      <p:sp>
        <p:nvSpPr>
          <p:cNvPr id="9" name="Text 7"/>
          <p:cNvSpPr/>
          <p:nvPr/>
        </p:nvSpPr>
        <p:spPr>
          <a:xfrm>
            <a:off x="2453640" y="1600200"/>
            <a:ext cx="181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4632" y="1600200"/>
            <a:ext cx="1758696" cy="731520"/>
          </a:xfrm>
          <a:prstGeom prst="roundRect">
            <a:avLst>
              <a:gd name="adj" fmla="val 8750"/>
            </a:avLst>
          </a:prstGeom>
          <a:solidFill>
            <a:srgbClr val="3E8073"/>
          </a:solidFill>
          <a:ln/>
        </p:spPr>
      </p:sp>
      <p:sp>
        <p:nvSpPr>
          <p:cNvPr id="11" name="Text 9"/>
          <p:cNvSpPr/>
          <p:nvPr/>
        </p:nvSpPr>
        <p:spPr>
          <a:xfrm>
            <a:off x="4267200" y="1600200"/>
            <a:ext cx="181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1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08192" y="1600200"/>
            <a:ext cx="1758696" cy="731520"/>
          </a:xfrm>
          <a:prstGeom prst="roundRect">
            <a:avLst>
              <a:gd name="adj" fmla="val 8750"/>
            </a:avLst>
          </a:prstGeom>
          <a:solidFill>
            <a:srgbClr val="5A6E92"/>
          </a:solidFill>
          <a:ln/>
        </p:spPr>
      </p:sp>
      <p:sp>
        <p:nvSpPr>
          <p:cNvPr id="13" name="Text 11"/>
          <p:cNvSpPr/>
          <p:nvPr/>
        </p:nvSpPr>
        <p:spPr>
          <a:xfrm>
            <a:off x="6080760" y="1600200"/>
            <a:ext cx="181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</a:t>
            </a:r>
            <a:endParaRPr lang="en-US" sz="11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21752" y="1600200"/>
            <a:ext cx="1758696" cy="731520"/>
          </a:xfrm>
          <a:prstGeom prst="roundRect">
            <a:avLst>
              <a:gd name="adj" fmla="val 8750"/>
            </a:avLst>
          </a:prstGeom>
          <a:solidFill>
            <a:srgbClr val="5C8270"/>
          </a:solidFill>
          <a:ln/>
        </p:spPr>
      </p:sp>
      <p:sp>
        <p:nvSpPr>
          <p:cNvPr id="15" name="Text 13"/>
          <p:cNvSpPr/>
          <p:nvPr/>
        </p:nvSpPr>
        <p:spPr>
          <a:xfrm>
            <a:off x="7894320" y="1600200"/>
            <a:ext cx="181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Multi-depth</a:t>
            </a:r>
            <a:endParaRPr lang="en-US" sz="11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735312" y="1600200"/>
            <a:ext cx="1758696" cy="731520"/>
          </a:xfrm>
          <a:prstGeom prst="roundRect">
            <a:avLst>
              <a:gd name="adj" fmla="val 8750"/>
            </a:avLst>
          </a:prstGeom>
          <a:solidFill>
            <a:srgbClr val="6E5A93"/>
          </a:solidFill>
          <a:ln/>
        </p:spPr>
      </p:sp>
      <p:sp>
        <p:nvSpPr>
          <p:cNvPr id="17" name="Text 15"/>
          <p:cNvSpPr/>
          <p:nvPr/>
        </p:nvSpPr>
        <p:spPr>
          <a:xfrm>
            <a:off x="9707880" y="1600200"/>
            <a:ext cx="181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/</a:t>
            </a:r>
            <a:endParaRPr lang="en-US" sz="11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E80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88720" y="27889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C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= extractor + head.  </a:t>
            </a:r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h(x)=gφ(fθ(x)); reuse keeps fθ as a learned prior.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1722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E80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20840" y="27889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C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for four reasons.  </a:t>
            </a:r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early features, depth-graded transfer, a good optimisation start, and built-in regularisation.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E80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88720" y="40233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C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by data and distance.  </a:t>
            </a:r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 data and more similar the task, the more you freeze.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1722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E80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720840" y="40233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C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free lunch.  </a:t>
            </a:r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3C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unrelated domains, bias, lock-in and forgetting can make reuse lose to training from scratch.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40080" y="5440680"/>
            <a:ext cx="10881360" cy="822960"/>
          </a:xfrm>
          <a:prstGeom prst="roundRect">
            <a:avLst>
              <a:gd name="adj" fmla="val 7778"/>
            </a:avLst>
          </a:prstGeom>
          <a:solidFill>
            <a:srgbClr val="E9EDF3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4406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2E4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reuse is the engine of transfer learning — it turns one expensive model into many cheap, capable ones.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2026-06-26T19:57:49Z</dcterms:created>
  <dcterms:modified xsi:type="dcterms:W3CDTF">2026-06-26T19:57:49Z</dcterms:modified>
</cp:coreProperties>
</file>